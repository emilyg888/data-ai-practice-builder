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9552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From AI Accelerator to Repeatable Practice 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109728"/>
            <a:ext cx="3246120" cy="393192"/>
          </a:xfrm>
          <a:prstGeom prst="roundRect">
            <a:avLst/>
          </a:prstGeom>
          <a:solidFill>
            <a:srgbClr val="2B67C4"/>
          </a:solidFill>
          <a:ln w="12700">
            <a:solidFill>
              <a:srgbClr val="56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CTO interview one-page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50392"/>
            <a:ext cx="297180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24128"/>
            <a:ext cx="25786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1C32"/>
                </a:solidFill>
                <a:latin typeface="Aptos Display"/>
              </a:rPr>
              <a:t>Executive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1790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40">
                <a:solidFill>
                  <a:srgbClr val="2B67C4"/>
                </a:solidFill>
                <a:latin typeface="Aptos"/>
              </a:rPr>
              <a:t>Problem: </a:t>
            </a:r>
            <a:r>
              <a:rPr sz="1140">
                <a:solidFill>
                  <a:srgbClr val="1C1C1E"/>
                </a:solidFill>
                <a:latin typeface="Aptos"/>
              </a:rPr>
              <a:t>AI pilots stay bespoke and hard to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476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40">
                <a:solidFill>
                  <a:srgbClr val="2B67C4"/>
                </a:solidFill>
                <a:latin typeface="Aptos"/>
              </a:rPr>
              <a:t>Shift: </a:t>
            </a:r>
            <a:r>
              <a:rPr sz="1140">
                <a:solidFill>
                  <a:srgbClr val="1C1C1E"/>
                </a:solidFill>
                <a:latin typeface="Aptos"/>
              </a:rPr>
              <a:t>Convert delivery know-how into reusable practice 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774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40">
                <a:solidFill>
                  <a:srgbClr val="2B67C4"/>
                </a:solidFill>
                <a:latin typeface="Aptos"/>
              </a:rPr>
              <a:t>Result: </a:t>
            </a:r>
            <a:r>
              <a:rPr sz="1140">
                <a:solidFill>
                  <a:srgbClr val="1C1C1E"/>
                </a:solidFill>
                <a:latin typeface="Aptos"/>
              </a:rPr>
              <a:t>Faster solutioning, safer delivery and lower cost-to-serve.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99232"/>
            <a:ext cx="26060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B67C4"/>
                </a:solidFill>
                <a:latin typeface="Aptos"/>
              </a:rPr>
              <a:t>Conversion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310128"/>
            <a:ext cx="2514600" cy="274320"/>
          </a:xfrm>
          <a:prstGeom prst="roundRect">
            <a:avLst/>
          </a:prstGeom>
          <a:solidFill>
            <a:srgbClr val="DDEBFF"/>
          </a:solidFill>
          <a:ln>
            <a:solidFill>
              <a:srgbClr val="A9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E1C32"/>
                </a:solidFill>
                <a:latin typeface="Aptos"/>
              </a:rPr>
              <a:t>AI Accelerator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575304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369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694176"/>
            <a:ext cx="2514600" cy="274320"/>
          </a:xfrm>
          <a:prstGeom prst="roundRect">
            <a:avLst/>
          </a:prstGeom>
          <a:solidFill>
            <a:srgbClr val="DDEBFF"/>
          </a:solidFill>
          <a:ln>
            <a:solidFill>
              <a:srgbClr val="A9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E1C32"/>
                </a:solidFill>
                <a:latin typeface="Aptos"/>
              </a:rPr>
              <a:t>Architecture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959352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369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078224"/>
            <a:ext cx="2514600" cy="274320"/>
          </a:xfrm>
          <a:prstGeom prst="roundRect">
            <a:avLst/>
          </a:prstGeom>
          <a:solidFill>
            <a:srgbClr val="DDEBFF"/>
          </a:solidFill>
          <a:ln>
            <a:solidFill>
              <a:srgbClr val="A9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E1C32"/>
                </a:solidFill>
                <a:latin typeface="Aptos"/>
              </a:rPr>
              <a:t>Delivery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343400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369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4462272"/>
            <a:ext cx="2514600" cy="274320"/>
          </a:xfrm>
          <a:prstGeom prst="roundRect">
            <a:avLst/>
          </a:prstGeom>
          <a:solidFill>
            <a:srgbClr val="DDEBFF"/>
          </a:solidFill>
          <a:ln>
            <a:solidFill>
              <a:srgbClr val="A9C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E1C32"/>
                </a:solidFill>
                <a:latin typeface="Aptos"/>
              </a:rPr>
              <a:t>Vertical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727448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369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846320"/>
            <a:ext cx="2514600" cy="274320"/>
          </a:xfrm>
          <a:prstGeom prst="roundRect">
            <a:avLst/>
          </a:prstGeom>
          <a:solidFill>
            <a:srgbClr val="DCF5D7"/>
          </a:solidFill>
          <a:ln>
            <a:solidFill>
              <a:srgbClr val="83B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E1C32"/>
                </a:solidFill>
                <a:latin typeface="Aptos"/>
              </a:rPr>
              <a:t>Repeatable Practice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850392"/>
            <a:ext cx="836676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96012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0E1C32"/>
                </a:solidFill>
                <a:latin typeface="Aptos Display"/>
              </a:rPr>
              <a:t>Enterprise AI Scale Enablers - reusable capabilities for governed AI adoption</a:t>
            </a:r>
          </a:p>
        </p:txBody>
      </p:sp>
      <p:pic>
        <p:nvPicPr>
          <p:cNvPr id="22" name="Picture 21" descr="EnterpriseAI_Enab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1" y="1353312"/>
            <a:ext cx="6000302" cy="3611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040" y="537667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E1C32"/>
                </a:solidFill>
                <a:latin typeface="Aptos Display"/>
              </a:rPr>
              <a:t>What this gives Tech Mahindra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742432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742432"/>
            <a:ext cx="73152" cy="749808"/>
          </a:xfrm>
          <a:prstGeom prst="rect">
            <a:avLst/>
          </a:prstGeom>
          <a:solidFill>
            <a:srgbClr val="2B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5815584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1C32"/>
                </a:solidFill>
                <a:latin typeface="Aptos"/>
              </a:rPr>
              <a:t>GTM leverage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6053328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>
                <a:solidFill>
                  <a:srgbClr val="1C1C1E"/>
                </a:solidFill>
                <a:latin typeface="Aptos"/>
              </a:rPr>
              <a:t>Sharper RFP narratives, reusable solution stories and stronger client confidence.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18688" y="5742432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18688" y="5742432"/>
            <a:ext cx="73152" cy="749808"/>
          </a:xfrm>
          <a:prstGeom prst="rect">
            <a:avLst/>
          </a:prstGeom>
          <a:solidFill>
            <a:srgbClr val="4B9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15584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1C32"/>
                </a:solidFill>
                <a:latin typeface="Aptos"/>
              </a:rPr>
              <a:t>Delivery leverage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053328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>
                <a:solidFill>
                  <a:srgbClr val="1C1C1E"/>
                </a:solidFill>
                <a:latin typeface="Aptos"/>
              </a:rPr>
              <a:t>Faster mobilisation, less reinvention and consistent engineering patterns.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7336" y="5742432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17336" y="5742432"/>
            <a:ext cx="73152" cy="749808"/>
          </a:xfrm>
          <a:prstGeom prst="rect">
            <a:avLst/>
          </a:prstGeom>
          <a:solidFill>
            <a:srgbClr val="F5A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5815584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1C32"/>
                </a:solidFill>
                <a:latin typeface="Aptos"/>
              </a:rPr>
              <a:t>Control leverage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6053328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>
                <a:solidFill>
                  <a:srgbClr val="1C1C1E"/>
                </a:solidFill>
                <a:latin typeface="Aptos"/>
              </a:rPr>
              <a:t>Governance, security, risk and auditability embedded from the start.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5984" y="5742432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15984" y="5742432"/>
            <a:ext cx="73152" cy="749808"/>
          </a:xfrm>
          <a:prstGeom prst="rect">
            <a:avLst/>
          </a:prstGeom>
          <a:solidFill>
            <a:srgbClr val="0E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5815584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E1C32"/>
                </a:solidFill>
                <a:latin typeface="Aptos"/>
              </a:rPr>
              <a:t>Commercial leverage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6053328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>
                <a:solidFill>
                  <a:srgbClr val="1C1C1E"/>
                </a:solidFill>
                <a:latin typeface="Aptos"/>
              </a:rPr>
              <a:t>Lower cost-to-deliver and scalable cross-vertical practice IP.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547104"/>
            <a:ext cx="11521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F6369"/>
                </a:solidFill>
                <a:latin typeface="Aptos"/>
              </a:rPr>
              <a:t>Positioning line: I help convert AI delivery capability into repeatable, governed, enterprise-grade practice 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